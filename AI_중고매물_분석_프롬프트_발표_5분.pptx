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algun Gothic"/>
              </a:rPr>
              <a:t>중고 매물 분석기: 프롬프트로 나눈 구매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35C54"/>
                </a:solidFill>
                <a:latin typeface="Malgun Gothic"/>
              </a:rPr>
              <a:t>판매글 하나를 제품 정보, 리스크, 사진 근거, 가격 참고, 최종 결론으로 분해하는 AI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1005840" cy="54864"/>
          </a:xfrm>
          <a:prstGeom prst="rect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148840" cy="1234440"/>
          </a:xfrm>
          <a:prstGeom prst="roundRect">
            <a:avLst/>
          </a:prstGeom>
          <a:solidFill>
            <a:srgbClr val="FFFDF7"/>
          </a:solidFill>
          <a:ln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E6F2D"/>
                </a:solidFill>
                <a:latin typeface="Malgun Gothic"/>
              </a:rPr>
              <a:t>Step 1</a:t>
            </a:r>
          </a:p>
          <a:p>
            <a:pPr>
              <a:defRPr sz="1500" b="1">
                <a:solidFill>
                  <a:srgbClr val="222222"/>
                </a:solidFill>
                <a:latin typeface="Malgun Gothic"/>
              </a:defRPr>
            </a:pPr>
            <a:r>
              <a:t>제품 식별</a:t>
            </a:r>
            <a:br/>
            <a:r>
              <a:t>신품가·검색어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9232" y="2542032"/>
            <a:ext cx="384048" cy="256032"/>
          </a:xfrm>
          <a:prstGeom prst="rightArrow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2148840"/>
            <a:ext cx="2148840" cy="1234440"/>
          </a:xfrm>
          <a:prstGeom prst="roundRect">
            <a:avLst/>
          </a:prstGeom>
          <a:solidFill>
            <a:srgbClr val="FFFDF7"/>
          </a:solidFill>
          <a:ln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4BBE"/>
                </a:solidFill>
                <a:latin typeface="Malgun Gothic"/>
              </a:rPr>
              <a:t>Step 2</a:t>
            </a:r>
          </a:p>
          <a:p>
            <a:pPr>
              <a:defRPr sz="1500" b="1">
                <a:solidFill>
                  <a:srgbClr val="222222"/>
                </a:solidFill>
                <a:latin typeface="Malgun Gothic"/>
              </a:defRPr>
            </a:pPr>
            <a:r>
              <a:t>리스크</a:t>
            </a:r>
            <a:br/>
            <a:r>
              <a:t>본문·사진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42432" y="2542032"/>
            <a:ext cx="384048" cy="256032"/>
          </a:xfrm>
          <a:prstGeom prst="rightArrow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2148840" cy="1234440"/>
          </a:xfrm>
          <a:prstGeom prst="roundRect">
            <a:avLst/>
          </a:prstGeom>
          <a:solidFill>
            <a:srgbClr val="FFFDF7"/>
          </a:solidFill>
          <a:ln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4BBE"/>
                </a:solidFill>
                <a:latin typeface="Malgun Gothic"/>
              </a:rPr>
              <a:t>Step 3</a:t>
            </a:r>
          </a:p>
          <a:p>
            <a:pPr>
              <a:defRPr sz="1500" b="1">
                <a:solidFill>
                  <a:srgbClr val="222222"/>
                </a:solidFill>
                <a:latin typeface="Malgun Gothic"/>
              </a:defRPr>
            </a:pPr>
            <a:r>
              <a:t>비교 매물</a:t>
            </a:r>
            <a:br/>
            <a:r>
              <a:t>가격 가이드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85632" y="2542032"/>
            <a:ext cx="384048" cy="256032"/>
          </a:xfrm>
          <a:prstGeom prst="rightArrow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2148840"/>
            <a:ext cx="2148840" cy="1234440"/>
          </a:xfrm>
          <a:prstGeom prst="roundRect">
            <a:avLst/>
          </a:prstGeom>
          <a:solidFill>
            <a:srgbClr val="FFFDF7"/>
          </a:solidFill>
          <a:ln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4BBE"/>
                </a:solidFill>
                <a:latin typeface="Malgun Gothic"/>
              </a:rPr>
              <a:t>Step 4</a:t>
            </a:r>
          </a:p>
          <a:p>
            <a:pPr>
              <a:defRPr sz="1500" b="1">
                <a:solidFill>
                  <a:srgbClr val="222222"/>
                </a:solidFill>
                <a:latin typeface="Malgun Gothic"/>
              </a:defRPr>
            </a:pPr>
            <a:r>
              <a:t>최종 판단</a:t>
            </a:r>
            <a:br/>
            <a:r>
              <a:t>영수증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5166360" cy="141732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EE6F2D"/>
                </a:solidFill>
                <a:latin typeface="Malgun Gothic"/>
              </a:rPr>
              <a:t>AI 역할 분담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식별 AI: 제목·본문·사진에서 제품명과 검색어를 분리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검증 AI: 국내 신품가·제조사·제품 설명을 보강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판단 AI: 리스크, 본문 누락, 사진 근거, 가격 참고를 종합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886200"/>
            <a:ext cx="5166360" cy="141732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704BBE"/>
                </a:solidFill>
                <a:latin typeface="Malgun Gothic"/>
              </a:rPr>
              <a:t>핵심 설계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각 단계는 JSON 스키마로 UI가 바로 읽을 수 있게 고정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구매 결론은 마지막 단계까지 미루고, 앞 단계는 근거만 축적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가격은 감정가가 아니라 참고자료라는 경고를 반복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925312"/>
            <a:ext cx="1088136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F4B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200" b="0">
                <a:solidFill>
                  <a:srgbClr val="73431C"/>
                </a:solidFill>
                <a:latin typeface="Malgun Gothic"/>
              </a:rPr>
              <a:t>발표 포인트: 첫 1분은 서비스가 무엇을 하는지보다, 왜 프롬프트를 단계별로 쪼갰는지 설명합니다.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77E70"/>
                </a:solidFill>
                <a:latin typeface="Malgun Gothic"/>
              </a:rPr>
              <a:t>핵심 소스: prompts/product-summary.txt, purchase-receipt.txt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35C54"/>
                </a:solidFill>
                <a:latin typeface="Malgun Gothic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algun Gothic"/>
              </a:rPr>
              <a:t>1단계: 제품 식별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35C54"/>
                </a:solidFill>
                <a:latin typeface="Malgun Gothic"/>
              </a:rPr>
              <a:t>판매자가 쓴 문구를 그대로 믿지 않고, 제품 식별어와 거래 문맥을 분리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1005840" cy="54864"/>
          </a:xfrm>
          <a:prstGeom prst="rect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347472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EE6F2D"/>
                </a:solidFill>
                <a:latin typeface="Malgun Gothic"/>
              </a:rPr>
              <a:t>문제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제목에는 상태, 네고, 배송, 홍보 문구가 섞임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모델 번호·세대·OLED/Pro 같은 변형이 빠지면 다른 제품이 됨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검색어가 길면 당근·번개에서 결과가 줄어듦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704BBE"/>
                </a:solidFill>
                <a:latin typeface="Malgun Gothic"/>
              </a:rPr>
              <a:t>프롬프트 전략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사진 로고·패키지·모델명을 제목보다 우선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제품명은 정확하게, 검색어는 2~5단어로 짧게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국내 신품가와 다나와 URL을 가능한 범위에서 보강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508760"/>
            <a:ext cx="347472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31856F"/>
                </a:solidFill>
                <a:latin typeface="Malgun Gothic"/>
              </a:rPr>
              <a:t>결과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제품 요약 카드 생성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후속 검색용 대표 검색어와 후보 검색어 생성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가격 판단 전에 제품 자체 정보와 판매 조건을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32180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product-identify.txt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532180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product-summary.txt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532180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product-info-lookup.txt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925312"/>
            <a:ext cx="1088136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F4B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200" b="0">
                <a:solidFill>
                  <a:srgbClr val="73431C"/>
                </a:solidFill>
                <a:latin typeface="Malgun Gothic"/>
              </a:rPr>
              <a:t>발표 포인트: 여기서는 '제품명은 정확하게, 검색어는 넓게'라는 규칙이 가장 중요합니다.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77E70"/>
                </a:solidFill>
                <a:latin typeface="Malgun Gothic"/>
              </a:rPr>
              <a:t>핵심 규칙: 변형 표기 보존, 거래 문구 제거, 국내 가격 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35C54"/>
                </a:solidFill>
                <a:latin typeface="Malgun Gothic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algun Gothic"/>
              </a:rPr>
              <a:t>2단계: 리스크·본문·사진 분석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35C54"/>
                </a:solidFill>
                <a:latin typeface="Malgun Gothic"/>
              </a:rPr>
              <a:t>구매 결론을 내리기 전, 확인해야 할 근거만 따로 모으는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1005840" cy="54864"/>
          </a:xfrm>
          <a:prstGeom prst="rect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3520440" cy="37947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EE6F2D"/>
                </a:solidFill>
                <a:latin typeface="Malgun Gothic"/>
              </a:rPr>
              <a:t>제품 리스크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Google 검색으로 문제·이슈·후기·AS·중고 확인 쿼리 조합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정확한 모델 이슈와 제품군 확인 포인트를 구분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근거 없는 사기·가품 추측은 제외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37947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704BBE"/>
                </a:solidFill>
                <a:latin typeface="Malgun Gothic"/>
              </a:rPr>
              <a:t>본문/판매자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본문에 실제로 있는 표현을 근거로 사용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앞 단계 리스크를 판매글 누락 여부와 연결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구매 권장/비추천 결론은 금지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417320"/>
            <a:ext cx="3520440" cy="37947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31856F"/>
                </a:solidFill>
                <a:latin typeface="Malgun Gothic"/>
              </a:rPr>
              <a:t>이미지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실물 사진인지 홍보·쇼핑몰 캡처인지 먼저 판별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실물 근거가 없으면 상태가 좋아 보인다고 쓰지 않음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사진별 짧은 배지와 코멘트로 UI에 바로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1324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product-risk.txt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541324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listing-text-analysis.txt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5413248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listing-image-analysis.txt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925312"/>
            <a:ext cx="1088136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F4B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200" b="0">
                <a:solidFill>
                  <a:srgbClr val="73431C"/>
                </a:solidFill>
                <a:latin typeface="Malgun Gothic"/>
              </a:rPr>
              <a:t>발표 포인트: 2단계의 목적은 '겁주기'가 아니라, 최종 판단 전에 누락된 근거를 구조화하는 것입니다.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77E70"/>
                </a:solidFill>
                <a:latin typeface="Malgun Gothic"/>
              </a:rPr>
              <a:t>핵심 규칙: 단정 금지, 구매 결론 유보, 실물 근거 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35C54"/>
                </a:solidFill>
                <a:latin typeface="Malgun Gothic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algun Gothic"/>
              </a:rPr>
              <a:t>3단계: 비교 매물과 가격 참고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35C54"/>
                </a:solidFill>
                <a:latin typeface="Malgun Gothic"/>
              </a:rPr>
              <a:t>검색 결과를 무조건 시세로 쓰지 않고, 같은 제품 후보만 걸러 참고자료로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1005840" cy="54864"/>
          </a:xfrm>
          <a:prstGeom prst="rect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65760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EE6F2D"/>
                </a:solidFill>
                <a:latin typeface="Malgun Gothic"/>
              </a:rPr>
              <a:t>검색어 생성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제품 식별어와 판매글 맥락을 내부적으로 분리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1번 후보는 넓게, 이후 후보는 모델·세대 중심으로 좁힘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상태·구성품·네고·지역 등 결과를 줄이는 말은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81328"/>
            <a:ext cx="333756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704BBE"/>
                </a:solidFill>
                <a:latin typeface="Malgun Gothic"/>
              </a:rPr>
              <a:t>동일 제품 필터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브랜드·모델·세대·용량·에디션이 같은 후보만 match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가격이 이상하다는 이유로 제외하지 않음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확신이 약하면 제외해 가격 참고 오염을 줄임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481328"/>
            <a:ext cx="3337560" cy="36118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31856F"/>
                </a:solidFill>
                <a:latin typeface="Malgun Gothic"/>
              </a:rPr>
              <a:t>중고가이드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상태·구성품·보증·배송비 기준으로 보수적 가격 범위 작성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표본 부족 또는 분산이 크면 confidence 낮음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현재 매물 가격을 합리화하지 않도록 제약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358384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search-query-*.txt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5358384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comparison-filter.txt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358384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used-price-guide.txt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925312"/>
            <a:ext cx="1088136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F4B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200" b="0">
                <a:solidFill>
                  <a:srgbClr val="73431C"/>
                </a:solidFill>
                <a:latin typeface="Malgun Gothic"/>
              </a:rPr>
              <a:t>발표 포인트: 가격표는 시세 보장이 아니라, 같은 제품 후보를 필터링한 뒤 만든 구매 참고자료라는 점을 강조합니다.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77E70"/>
                </a:solidFill>
                <a:latin typeface="Malgun Gothic"/>
              </a:rPr>
              <a:t>핵심 규칙: 같은 제품만 비교, 확신 약하면 제외, 가격은 참고용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35C54"/>
                </a:solidFill>
                <a:latin typeface="Malgun Gothic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algun Gothic"/>
              </a:rPr>
              <a:t>최종 판단: 영수증 프롬프트와 작업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35C54"/>
                </a:solidFill>
                <a:latin typeface="Malgun Gothic"/>
              </a:rPr>
              <a:t>앞 단계의 근거를 한 장의 결론으로 압축하되, AI 가격 판단의 한계를 명시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25880"/>
            <a:ext cx="1005840" cy="54864"/>
          </a:xfrm>
          <a:prstGeom prst="rect">
            <a:avLst/>
          </a:prstGeom>
          <a:solidFill>
            <a:srgbClr val="EE6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3703320" cy="38862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EE6F2D"/>
                </a:solidFill>
                <a:latin typeface="Malgun Gothic"/>
              </a:rPr>
              <a:t>최종 영수증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1단계 제품 식별, 2단계 리스크, 3단계 가격 가이드를 종합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buy / negotiate / hold / pass 중 하나로 결론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가격 참고 범위, 네고 제안, 구매 상한, 확인할 점을 함께 출력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337560" cy="38862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704BBE"/>
                </a:solidFill>
                <a:latin typeface="Malgun Gothic"/>
              </a:rPr>
              <a:t>프롬프트 개선 과정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긴 제품명을 그대로 검색하지 않도록 검색어 분리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홍보 이미지를 실물 사진처럼 판단하지 않도록 이미지 규칙 강화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리스크 체크리스트가 과도한 부정 결론으로 흐르지 않게 균형 문구 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417320"/>
            <a:ext cx="3337560" cy="38862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1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/>
            <a:r>
              <a:rPr sz="1600" b="1">
                <a:solidFill>
                  <a:srgbClr val="31856F"/>
                </a:solidFill>
                <a:latin typeface="Malgun Gothic"/>
              </a:rPr>
              <a:t>남은 확장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플랫폼별 판매자 신뢰 지표 고도화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가격 표본 수와 분산을 UI에서 더 명확히 표시</a:t>
            </a:r>
          </a:p>
          <a:p>
            <a:pPr>
              <a:spcAft>
                <a:spcPts val="400"/>
              </a:spcAft>
              <a:defRPr sz="1250">
                <a:solidFill>
                  <a:srgbClr val="222222"/>
                </a:solidFill>
                <a:latin typeface="Malgun Gothic"/>
              </a:defRPr>
            </a:pPr>
            <a:r>
              <a:t>• 프롬프트 버전별 회귀 테스트 자동화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68112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purchase-receipt.txt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468112"/>
            <a:ext cx="2331720" cy="310896"/>
          </a:xfrm>
          <a:prstGeom prst="roundRect">
            <a:avLst/>
          </a:prstGeom>
          <a:solidFill>
            <a:srgbClr val="FFF1E0"/>
          </a:solidFill>
          <a:ln>
            <a:solidFill>
              <a:srgbClr val="F5B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9C4612"/>
                </a:solidFill>
                <a:latin typeface="Malgun Gothic"/>
              </a:rPr>
              <a:t>전체 prompts/*.txt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925312"/>
            <a:ext cx="1088136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F4B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200" b="0">
                <a:solidFill>
                  <a:srgbClr val="73431C"/>
                </a:solidFill>
                <a:latin typeface="Malgun Gothic"/>
              </a:rPr>
              <a:t>발표 포인트: 마지막 1분은 결과물이 예쁜 영수증이라는 점보다, 프롬프트 제약이 신뢰 가능한 결론을 만든다는 점으로 정리합니다.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77E70"/>
                </a:solidFill>
                <a:latin typeface="Malgun Gothic"/>
              </a:rPr>
              <a:t>핵심 규칙: 가격은 감정가 아님, 리스크는 체크리스트, 결론은 설명 가능해야 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35C54"/>
                </a:solidFill>
                <a:latin typeface="Malgun Gothic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